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914400" cy="822960"/>
          </a:xfrm>
          <a:prstGeom prst="line">
            <a:avLst/>
          </a:prstGeom>
          <a:noFill/>
          <a:ln w="12700">
            <a:solidFill>
              <a:srgbClr val="9DD9D2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640080"/>
            <a:ext cx="640080" cy="1188720"/>
          </a:xfrm>
          <a:prstGeom prst="line">
            <a:avLst/>
          </a:prstGeom>
          <a:noFill/>
          <a:ln w="12700">
            <a:solidFill>
              <a:srgbClr val="9DD9D2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2743200"/>
            <a:ext cx="1005840" cy="548640"/>
          </a:xfrm>
          <a:prstGeom prst="line">
            <a:avLst/>
          </a:prstGeom>
          <a:noFill/>
          <a:ln w="12700">
            <a:solidFill>
              <a:srgbClr val="9DD9D2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3291840"/>
            <a:ext cx="731520" cy="731520"/>
          </a:xfrm>
          <a:prstGeom prst="line">
            <a:avLst/>
          </a:prstGeom>
          <a:noFill/>
          <a:ln w="12700">
            <a:solidFill>
              <a:srgbClr val="9DD9D2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0" y="4023360"/>
            <a:ext cx="1188720" cy="548640"/>
          </a:xfrm>
          <a:prstGeom prst="line">
            <a:avLst/>
          </a:prstGeom>
          <a:noFill/>
          <a:ln w="12700">
            <a:solidFill>
              <a:srgbClr val="9DD9D2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023360"/>
            <a:ext cx="640080" cy="1097280"/>
          </a:xfrm>
          <a:prstGeom prst="line">
            <a:avLst/>
          </a:prstGeom>
          <a:noFill/>
          <a:ln w="12700">
            <a:solidFill>
              <a:srgbClr val="9DD9D2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1005840"/>
            <a:ext cx="256032" cy="256032"/>
          </a:xfrm>
          <a:prstGeom prst="ellipse">
            <a:avLst/>
          </a:prstGeom>
          <a:solidFill>
            <a:srgbClr val="9DD9D2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0" y="1828800"/>
            <a:ext cx="164592" cy="164592"/>
          </a:xfrm>
          <a:prstGeom prst="ellipse">
            <a:avLst/>
          </a:prstGeom>
          <a:solidFill>
            <a:srgbClr val="9DD9D2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47120" y="640080"/>
            <a:ext cx="201168" cy="201168"/>
          </a:xfrm>
          <a:prstGeom prst="ellipse">
            <a:avLst/>
          </a:prstGeom>
          <a:solidFill>
            <a:srgbClr val="9DD9D2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966960" y="2743200"/>
            <a:ext cx="146304" cy="146304"/>
          </a:xfrm>
          <a:prstGeom prst="ellipse">
            <a:avLst/>
          </a:prstGeom>
          <a:solidFill>
            <a:srgbClr val="9DD9D2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0" y="3291840"/>
            <a:ext cx="237744" cy="237744"/>
          </a:xfrm>
          <a:prstGeom prst="ellipse">
            <a:avLst/>
          </a:prstGeom>
          <a:solidFill>
            <a:srgbClr val="9DD9D2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0" y="4023360"/>
            <a:ext cx="164592" cy="164592"/>
          </a:xfrm>
          <a:prstGeom prst="ellipse">
            <a:avLst/>
          </a:prstGeom>
          <a:solidFill>
            <a:srgbClr val="9DD9D2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0" y="4572000"/>
            <a:ext cx="182880" cy="182880"/>
          </a:xfrm>
          <a:prstGeom prst="ellipse">
            <a:avLst/>
          </a:prstGeom>
          <a:solidFill>
            <a:srgbClr val="9DD9D2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0" y="5120640"/>
            <a:ext cx="128016" cy="128016"/>
          </a:xfrm>
          <a:prstGeom prst="ellipse">
            <a:avLst/>
          </a:prstGeom>
          <a:solidFill>
            <a:srgbClr val="9DD9D2">
              <a:alpha val="7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 ·  BINARY CLASSIFICATION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22860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Backpropagation in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Multilayer Perceptrons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network learns: forward pass, error calculation, and backward propagation of errors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502920" cy="54864"/>
          </a:xfrm>
          <a:prstGeom prst="rect">
            <a:avLst/>
          </a:prstGeom>
          <a:solidFill>
            <a:srgbClr val="9DD9D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Learning Rate &amp; Activation Functions in Convergence and Accuracy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Multilayer Perceptron (MLP) </a:t>
            </a:r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feed-forward neural network of an input layer, one or more hidden layers, and an output layer. Every connection carries a weight, and every neuron applies an activation function to a weighted sum of its inputs.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binary classification, </a:t>
            </a:r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maps input features to one of two classes (e.g. disease Yes/No). Training means searching for the weights that make predictions match actual outcomes — and backpropagation is the algorithm that performs this search efficiently.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37960" y="105156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0" y="2039112"/>
            <a:ext cx="1645920" cy="356616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2395728"/>
            <a:ext cx="1645920" cy="356616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2395728"/>
            <a:ext cx="1645920" cy="1069848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2395728"/>
            <a:ext cx="1645920" cy="1783080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2039112"/>
            <a:ext cx="1645920" cy="1069848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2752344"/>
            <a:ext cx="1645920" cy="356616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3108960"/>
            <a:ext cx="1645920" cy="356616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3108960"/>
            <a:ext cx="1645920" cy="1069848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2039112"/>
            <a:ext cx="1645920" cy="1783080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2752344"/>
            <a:ext cx="1645920" cy="1069848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3465576"/>
            <a:ext cx="1645920" cy="356616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3822192"/>
            <a:ext cx="1645920" cy="356616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2039112"/>
            <a:ext cx="1783080" cy="1069848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2752344"/>
            <a:ext cx="1783080" cy="356616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3108960"/>
            <a:ext cx="1783080" cy="356616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3108960"/>
            <a:ext cx="1783080" cy="1069848"/>
          </a:xfrm>
          <a:prstGeom prst="line">
            <a:avLst/>
          </a:prstGeom>
          <a:noFill/>
          <a:ln w="15875">
            <a:solidFill>
              <a:srgbClr val="E3EA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4908" y="2253996"/>
            <a:ext cx="283464" cy="283464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4908" y="2967228"/>
            <a:ext cx="283464" cy="283464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4908" y="3680460"/>
            <a:ext cx="283464" cy="283464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0828" y="1897380"/>
            <a:ext cx="283464" cy="2834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10828" y="2610612"/>
            <a:ext cx="283464" cy="2834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10828" y="3323844"/>
            <a:ext cx="283464" cy="2834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10828" y="4037076"/>
            <a:ext cx="283464" cy="2834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93908" y="2967228"/>
            <a:ext cx="283464" cy="283464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4709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66760" y="4709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04120" y="4709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6656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 weighted connection updated during training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COVER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64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MLP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62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structure of a multilayer perceptron used for binary classification.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89280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64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Forward Pass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862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inputs flow through weights and activations to produce a prediction.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89280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64" dirty="0"/>
          </a:p>
        </p:txBody>
      </p:sp>
      <p:sp>
        <p:nvSpPr>
          <p:cNvPr id="17" name="Text 15"/>
          <p:cNvSpPr/>
          <p:nvPr/>
        </p:nvSpPr>
        <p:spPr>
          <a:xfrm>
            <a:off x="8321040" y="2514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Error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2862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how the loss quantifies the gap between prediction and actual output.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1330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133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64" dirty="0"/>
          </a:p>
        </p:txBody>
      </p:sp>
      <p:sp>
        <p:nvSpPr>
          <p:cNvPr id="22" name="Text 20"/>
          <p:cNvSpPr/>
          <p:nvPr/>
        </p:nvSpPr>
        <p:spPr>
          <a:xfrm>
            <a:off x="822960" y="4754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Backpropagation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10235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how error gradients flow backward to update every weight in the network.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41330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4133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64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Learning Rate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510235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how the learning rate controls the size of each weight update.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47888" y="41330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8247888" y="4133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64" dirty="0"/>
          </a:p>
        </p:txBody>
      </p:sp>
      <p:sp>
        <p:nvSpPr>
          <p:cNvPr id="32" name="Text 30"/>
          <p:cNvSpPr/>
          <p:nvPr/>
        </p:nvSpPr>
        <p:spPr>
          <a:xfrm>
            <a:off x="8321040" y="4754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Activation Functions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21040" y="510235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different activations affect convergence speed and accuracy.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251960"/>
          </a:xfrm>
          <a:prstGeom prst="roundRect">
            <a:avLst>
              <a:gd name="adj" fmla="val 1720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labeled dataset of patient records (Age, Blood Pressure, Glucose Level, Lifestyle Risk) and a binary target — Disease Present: Yes / No — how should a neural network adjust its internal weights so that its predictions align with the actual outcomes?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6850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6118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random weights produce inaccurate predictions.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30682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2336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needs a systematic way to measure error and assign responsibility for it to each weight.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92861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554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solves this by propagating the output error backward through the layers, using gradients to update every weight in the direction that reduces the error.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1691640"/>
            <a:ext cx="4343400" cy="4251960"/>
          </a:xfrm>
          <a:prstGeom prst="roundRect">
            <a:avLst>
              <a:gd name="adj" fmla="val 1720"/>
            </a:avLst>
          </a:prstGeom>
          <a:solidFill>
            <a:srgbClr val="21295C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23317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0" y="2331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2715768"/>
            <a:ext cx="3794760" cy="914"/>
          </a:xfrm>
          <a:prstGeom prst="line">
            <a:avLst/>
          </a:prstGeom>
          <a:noFill/>
          <a:ln w="9525">
            <a:solidFill>
              <a:srgbClr val="3A4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788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0" y="27889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35240" y="3172968"/>
            <a:ext cx="3794760" cy="914"/>
          </a:xfrm>
          <a:prstGeom prst="line">
            <a:avLst/>
          </a:prstGeom>
          <a:noFill/>
          <a:ln w="9525">
            <a:solidFill>
              <a:srgbClr val="3A4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3246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Level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0" y="32461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35240" y="3630168"/>
            <a:ext cx="3794760" cy="914"/>
          </a:xfrm>
          <a:prstGeom prst="line">
            <a:avLst/>
          </a:prstGeom>
          <a:noFill/>
          <a:ln w="9525">
            <a:solidFill>
              <a:srgbClr val="3A4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37033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0" y="37033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35240" y="4087368"/>
            <a:ext cx="3794760" cy="914"/>
          </a:xfrm>
          <a:prstGeom prst="line">
            <a:avLst/>
          </a:prstGeom>
          <a:noFill/>
          <a:ln w="9525">
            <a:solidFill>
              <a:srgbClr val="3A4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4160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0" y="4160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35240" y="4754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must learn which factors drive the Yes/No prediction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 · 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Architecture &amp; Notation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3900" y="19202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23900" y="1920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(features x)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35580" y="2331720"/>
            <a:ext cx="175260" cy="914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10840" y="19202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910840" y="1920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(w, b)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22520" y="2331720"/>
            <a:ext cx="175260" cy="914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97780" y="19202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097780" y="1920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Σwx + 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09460" y="2331720"/>
            <a:ext cx="175260" cy="914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84720" y="19202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284720" y="1920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f(z)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96400" y="2331720"/>
            <a:ext cx="175260" cy="914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71660" y="19202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9471660" y="1920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ŷ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Principle — Three Stages of Training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023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617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95604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travel through the network layer by layer; each neuron computes a weighted sum and applies an activation function until an output prediction ŷ is produced.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15968" y="37947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4568" y="4023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44568" y="4617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Calculation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44568" y="495604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ŷ is compared with the actual label y using a loss function (e.g. mean squared error or cross-entropy) to quantify how wrong the network is.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83296" y="37947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11896" y="4023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1295C"/>
          </a:solidFill>
          <a:ln/>
        </p:spPr>
      </p:sp>
      <p:sp>
        <p:nvSpPr>
          <p:cNvPr id="32" name="Text 30"/>
          <p:cNvSpPr/>
          <p:nvPr/>
        </p:nvSpPr>
        <p:spPr>
          <a:xfrm>
            <a:off x="8311896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11896" y="4617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Propagation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11896" y="495604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is propagated backward from the output to the input layer using the chain rule, computing gradients and updating every weight to reduce the error.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 · 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Forward Pass — Worked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one hidden neuron h and one output neuron o, predicting whether a patient has a disease (1) or not (0):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Weighted Sum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z_h = (w1·x1 + w2·x2) + b_h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input is multiplied by its connection weight, the products are summed, and a bias term is added.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Activation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a_h = f(z_h)          e.g. sigmoid f(z) = 1/(1+e^-z)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3159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weighted sum passes through a non-linear activation function, producing the neuron's output a_h.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Propagate to Output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z_o = w3·a_h + b_o   →   ŷ = f(z_o)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532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neuron's output becomes the input to the output neuron, giving the final prediction ŷ.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19456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21295C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46520" y="3291840"/>
            <a:ext cx="1005840" cy="100584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291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x1, x2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52360" y="3794760"/>
            <a:ext cx="822960" cy="914"/>
          </a:xfrm>
          <a:prstGeom prst="line">
            <a:avLst/>
          </a:prstGeom>
          <a:noFill/>
          <a:ln w="31750">
            <a:solidFill>
              <a:srgbClr val="9DD9D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75320" y="3291840"/>
            <a:ext cx="1005840" cy="100584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291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a_h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(hidden)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81160" y="3794760"/>
            <a:ext cx="822960" cy="914"/>
          </a:xfrm>
          <a:prstGeom prst="line">
            <a:avLst/>
          </a:prstGeom>
          <a:noFill/>
          <a:ln w="31750">
            <a:solidFill>
              <a:srgbClr val="9DD9D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04120" y="3291840"/>
            <a:ext cx="1005840" cy="1005840"/>
          </a:xfrm>
          <a:prstGeom prst="ellipse">
            <a:avLst/>
          </a:prstGeom>
          <a:solidFill>
            <a:srgbClr val="9DD9D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04120" y="3291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w1, w2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89720" y="2926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47091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moves strictly forward — from inputs, through hidden activations, to the final prediction. No errors are computed yet at this stage.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 · PART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Calculation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forward pass produces a prediction ŷ, the network measures how far it is from the actual label y using a loss function.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23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½ (y − ŷ)²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differentiable measure of squared distance between actual and predicted values.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423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−[y·log(ŷ) + (1−y)·log(1−ŷ)]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32461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binary classification — penalizes confident wrong predictions more heavily.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389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(Row 2 from the dataset)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 y = 1 (Yes)      Predicted Output ŷ = 0 (No)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120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D9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½ (1 − 0)² = 0.5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46177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i="1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error here means the network's weights must be adjusted substantially — this error value is exactly what backpropagation uses to compute how much (and in which direction) each weight should change.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 · PART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Backward Propagation of Errors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applies the chain rule to work backward from the output error, computing how much each weight contributed to it — then updates each weight to reduce future error.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675120" cy="2286000"/>
          </a:xfrm>
          <a:prstGeom prst="roundRect">
            <a:avLst>
              <a:gd name="adj" fmla="val 3200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FLOWS BACKWARD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3063240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632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3063240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30632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Hidden→Out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3063240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0632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In→Hidden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30632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3474720"/>
            <a:ext cx="457200" cy="914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4160520" y="3474720"/>
            <a:ext cx="457200" cy="914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2240280" y="3474720"/>
            <a:ext cx="457200" cy="914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triangle"/>
          </a:ln>
        </p:spPr>
      </p:sp>
      <p:sp>
        <p:nvSpPr>
          <p:cNvPr id="18" name="Text 16"/>
          <p:cNvSpPr/>
          <p:nvPr/>
        </p:nvSpPr>
        <p:spPr>
          <a:xfrm>
            <a:off x="822960" y="40690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propagate right→left; weights are updated left←right using those gradients.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52360" y="233172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065A82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266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26680" y="2880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∂E/∂w = ∂E/∂ŷ · ∂ŷ/∂z · ∂z/∂w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2668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factor measures one link in the causal chain from the weight to the final error.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956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 RULE (Gradient Descent)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5257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w_new = w_old − η · ∂E/∂w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0" y="5303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(eta) is the learning rate — it scales how big a step each weight takes toward reducing error.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INFLUENCING TRAINING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the Learning Rate (η)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controls the size of each weight update. It is one of the most sensitive hyperparameters in training.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14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452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overshoot the minimum; the loss oscillates or diverges instead of settling.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22860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514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Tuned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352044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efficient convergence toward the minimum error in a reasonable number of epochs.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2860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57616" y="2514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57616" y="352044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is very slow and training may get stuck in a poor local minimum.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21295C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5047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moderate value (e.g. 0.01–0.1), monitor the loss curve, and use adaptive schedules (e.g. decay, Adam optimizer) to combine fast early progress with stable late-stage convergence.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INFLUENCING TRAINING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Activation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introduce non-linearity, letting the network learn complex decision boundaries, and shape how gradients flow during backpropagation.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f(z)=1/(1+e⁻ᶻ)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Squashes output to (0,1) — ideal for the output layer in binary classification. Prone to vanishing gradients in deep networks.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22860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0288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28529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f(z)=max(0,z)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32918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compute and helps avoid vanishing gradients in hidden layers; widely used as the default choice.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2860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57616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57616" y="28529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f(z)=tanh(z)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57616" y="32918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Zero-centered output in (−1,1), often converges faster than sigmoid in hidden layers, but still saturates at extremes.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of activation directly affects how fast and how accurately the network converges during backpropagation.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Predictions on the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training, the network's predictions can be compared against actual outcomes to see where backpropagation has (and hasn't) corrected errors: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914400" cy="457200"/>
          </a:xfrm>
          <a:prstGeom prst="rect">
            <a:avLst/>
          </a:prstGeom>
          <a:solidFill>
            <a:srgbClr val="212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2240280"/>
            <a:ext cx="1234440" cy="457200"/>
          </a:xfrm>
          <a:prstGeom prst="rect">
            <a:avLst/>
          </a:prstGeom>
          <a:solidFill>
            <a:srgbClr val="212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240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2240280"/>
            <a:ext cx="1691640" cy="457200"/>
          </a:xfrm>
          <a:prstGeom prst="rect">
            <a:avLst/>
          </a:prstGeom>
          <a:solidFill>
            <a:srgbClr val="212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240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240280"/>
            <a:ext cx="1691640" cy="457200"/>
          </a:xfrm>
          <a:prstGeom prst="rect">
            <a:avLst/>
          </a:prstGeom>
          <a:solidFill>
            <a:srgbClr val="212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240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240280"/>
            <a:ext cx="1691640" cy="457200"/>
          </a:xfrm>
          <a:prstGeom prst="rect">
            <a:avLst/>
          </a:prstGeom>
          <a:solidFill>
            <a:srgbClr val="212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240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2240280"/>
            <a:ext cx="1920240" cy="457200"/>
          </a:xfrm>
          <a:prstGeom prst="rect">
            <a:avLst/>
          </a:prstGeom>
          <a:solidFill>
            <a:srgbClr val="212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92640" y="2240280"/>
            <a:ext cx="1965960" cy="457200"/>
          </a:xfrm>
          <a:prstGeom prst="rect">
            <a:avLst/>
          </a:prstGeom>
          <a:solidFill>
            <a:srgbClr val="212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22402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91440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463040" y="2697480"/>
            <a:ext cx="12344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97480" y="2697480"/>
            <a:ext cx="16916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2697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2697480"/>
            <a:ext cx="16916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2697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2697480"/>
            <a:ext cx="16916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2697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0" y="2697480"/>
            <a:ext cx="19202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2697480"/>
            <a:ext cx="1965960" cy="457200"/>
          </a:xfrm>
          <a:prstGeom prst="rect">
            <a:avLst/>
          </a:prstGeom>
          <a:solidFill>
            <a:srgbClr val="E4F3EE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0" y="2697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15468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154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463040" y="3154680"/>
            <a:ext cx="1234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63040" y="31546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97480" y="31546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97480" y="3154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89120" y="31546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3154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80760" y="31546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3154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772400" y="315468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692640" y="3154680"/>
            <a:ext cx="1965960" cy="457200"/>
          </a:xfrm>
          <a:prstGeom prst="rect">
            <a:avLst/>
          </a:prstGeom>
          <a:solidFill>
            <a:srgbClr val="FBE7E1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92640" y="3154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3611880"/>
            <a:ext cx="91440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611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463040" y="3611880"/>
            <a:ext cx="12344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63040" y="36118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697480" y="3611880"/>
            <a:ext cx="16916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97480" y="3611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89120" y="3611880"/>
            <a:ext cx="16916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3611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080760" y="3611880"/>
            <a:ext cx="16916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80760" y="3611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772400" y="3611880"/>
            <a:ext cx="19202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0" y="3611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692640" y="3611880"/>
            <a:ext cx="1965960" cy="457200"/>
          </a:xfrm>
          <a:prstGeom prst="rect">
            <a:avLst/>
          </a:prstGeom>
          <a:solidFill>
            <a:srgbClr val="E4F3EE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92640" y="3611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48640" y="406908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1463040" y="4069080"/>
            <a:ext cx="1234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63040" y="4069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697480" y="40690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97480" y="4069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389120" y="40690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89120" y="4069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080760" y="40690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80760" y="4069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7772400" y="406908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72400" y="4069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692640" y="4069080"/>
            <a:ext cx="1965960" cy="457200"/>
          </a:xfrm>
          <a:prstGeom prst="rect">
            <a:avLst/>
          </a:prstGeom>
          <a:solidFill>
            <a:srgbClr val="E4F3EE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692640" y="4069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48640" y="4526280"/>
            <a:ext cx="91440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1463040" y="4526280"/>
            <a:ext cx="12344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463040" y="4526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2697480" y="4526280"/>
            <a:ext cx="16916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97480" y="4526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389120" y="4526280"/>
            <a:ext cx="16916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89120" y="4526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080760" y="4526280"/>
            <a:ext cx="16916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080760" y="4526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772400" y="4526280"/>
            <a:ext cx="1920240" cy="457200"/>
          </a:xfrm>
          <a:prstGeom prst="rect">
            <a:avLst/>
          </a:prstGeom>
          <a:solidFill>
            <a:srgbClr val="F4F7F9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7240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9692640" y="4526280"/>
            <a:ext cx="1965960" cy="457200"/>
          </a:xfrm>
          <a:prstGeom prst="rect">
            <a:avLst/>
          </a:prstGeom>
          <a:solidFill>
            <a:srgbClr val="FBE7E1"/>
          </a:solidFill>
          <a:ln w="6350">
            <a:solidFill>
              <a:srgbClr val="E3EAE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692640" y="45262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822960" y="53035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2 and 5 show incorrect predictions — these generate non-zero loss values that backpropagation uses to keep adjusting weights across further training epochs, gradually improving accuracy and reliability.</a:t>
            </a:r>
            <a:endParaRPr lang="en-US" sz="1250" dirty="0"/>
          </a:p>
        </p:txBody>
      </p:sp>
      <p:sp>
        <p:nvSpPr>
          <p:cNvPr id="91" name="Text 8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842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64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Optimizers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Momentum, RMSProp, and Adam extend basic backpropagation for faster, more stable convergence.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842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64" dirty="0"/>
          </a:p>
        </p:txBody>
      </p:sp>
      <p:sp>
        <p:nvSpPr>
          <p:cNvPr id="12" name="Text 10"/>
          <p:cNvSpPr/>
          <p:nvPr/>
        </p:nvSpPr>
        <p:spPr>
          <a:xfrm>
            <a:off x="717804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Architectures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like batch normalization and residual connections address vanishing gradients in very deep networks.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" y="41330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133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64" dirty="0"/>
          </a:p>
        </p:txBody>
      </p:sp>
      <p:sp>
        <p:nvSpPr>
          <p:cNvPr id="17" name="Text 15"/>
          <p:cNvSpPr/>
          <p:nvPr/>
        </p:nvSpPr>
        <p:spPr>
          <a:xfrm>
            <a:off x="1463040" y="4160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Differentiation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66344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frameworks (TensorFlow, PyTorch) automate gradient computation, scaling backpropagation to huge models.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1330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133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64" dirty="0"/>
          </a:p>
        </p:txBody>
      </p:sp>
      <p:sp>
        <p:nvSpPr>
          <p:cNvPr id="22" name="Text 20"/>
          <p:cNvSpPr/>
          <p:nvPr/>
        </p:nvSpPr>
        <p:spPr>
          <a:xfrm>
            <a:off x="7178040" y="4160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&amp; Explainable Models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66344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backpropagation-trained networks with interpretable models for safer clinical decision support.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4480560"/>
          </a:xfrm>
          <a:prstGeom prst="roundRect">
            <a:avLst>
              <a:gd name="adj" fmla="val 1633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2066544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6" name="Text 4"/>
          <p:cNvSpPr/>
          <p:nvPr/>
        </p:nvSpPr>
        <p:spPr>
          <a:xfrm>
            <a:off x="905256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08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gradient computation — the chain rule lets one backward pass compute gradients for every weight simultaneously.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5256" y="2752344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27523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08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Broadly applicable — works with any differentiable architecture and a wide range of loss functions.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5256" y="3438144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08" dirty="0"/>
          </a:p>
        </p:txBody>
      </p:sp>
      <p:sp>
        <p:nvSpPr>
          <p:cNvPr id="13" name="Text 11"/>
          <p:cNvSpPr/>
          <p:nvPr/>
        </p:nvSpPr>
        <p:spPr>
          <a:xfrm>
            <a:off x="1417320" y="338328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— underpins training of networks from small MLPs to very deep, large-scale models.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" y="4123944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" y="4123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08" dirty="0"/>
          </a:p>
        </p:txBody>
      </p:sp>
      <p:sp>
        <p:nvSpPr>
          <p:cNvPr id="16" name="Text 14"/>
          <p:cNvSpPr/>
          <p:nvPr/>
        </p:nvSpPr>
        <p:spPr>
          <a:xfrm>
            <a:off x="1417320" y="406908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automatic learning of complex, non-linear decision boundaries directly from data, without manual feature engineering.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5256" y="4809744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" y="4809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08" dirty="0"/>
          </a:p>
        </p:txBody>
      </p:sp>
      <p:sp>
        <p:nvSpPr>
          <p:cNvPr id="19" name="Text 17"/>
          <p:cNvSpPr/>
          <p:nvPr/>
        </p:nvSpPr>
        <p:spPr>
          <a:xfrm>
            <a:off x="1417320" y="475488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understood and supported — mature theory and tooling (autodiff, optimizers) make implementation reliable and fast.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4480560"/>
          </a:xfrm>
          <a:prstGeom prst="roundRect">
            <a:avLst>
              <a:gd name="adj" fmla="val 1633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2066544"/>
            <a:ext cx="292608" cy="292608"/>
          </a:xfrm>
          <a:prstGeom prst="ellipse">
            <a:avLst/>
          </a:prstGeom>
          <a:solidFill>
            <a:srgbClr val="B3452C"/>
          </a:solidFill>
          <a:ln/>
        </p:spPr>
      </p:sp>
      <p:sp>
        <p:nvSpPr>
          <p:cNvPr id="6" name="Text 4"/>
          <p:cNvSpPr/>
          <p:nvPr/>
        </p:nvSpPr>
        <p:spPr>
          <a:xfrm>
            <a:off x="905256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608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/ exploding gradients — deep networks with saturating activations can make gradients too small or too large to learn effectively.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5256" y="2752344"/>
            <a:ext cx="292608" cy="292608"/>
          </a:xfrm>
          <a:prstGeom prst="ellipse">
            <a:avLst/>
          </a:prstGeom>
          <a:solidFill>
            <a:srgbClr val="B3452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27523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608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hyperparameters — a poorly chosen learning rate or initialization can prevent convergence.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5256" y="3438144"/>
            <a:ext cx="292608" cy="292608"/>
          </a:xfrm>
          <a:prstGeom prst="ellipse">
            <a:avLst/>
          </a:prstGeom>
          <a:solidFill>
            <a:srgbClr val="B3452C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608" dirty="0"/>
          </a:p>
        </p:txBody>
      </p:sp>
      <p:sp>
        <p:nvSpPr>
          <p:cNvPr id="13" name="Text 11"/>
          <p:cNvSpPr/>
          <p:nvPr/>
        </p:nvSpPr>
        <p:spPr>
          <a:xfrm>
            <a:off x="1417320" y="338328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converge to local minima or saddle points rather than the global minimum of the loss surface.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" y="4123944"/>
            <a:ext cx="292608" cy="292608"/>
          </a:xfrm>
          <a:prstGeom prst="ellipse">
            <a:avLst/>
          </a:prstGeom>
          <a:solidFill>
            <a:srgbClr val="B3452C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" y="4123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608" dirty="0"/>
          </a:p>
        </p:txBody>
      </p:sp>
      <p:sp>
        <p:nvSpPr>
          <p:cNvPr id="16" name="Text 14"/>
          <p:cNvSpPr/>
          <p:nvPr/>
        </p:nvSpPr>
        <p:spPr>
          <a:xfrm>
            <a:off x="1417320" y="406908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 — training large networks requires significant compute and time.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5256" y="4809744"/>
            <a:ext cx="292608" cy="292608"/>
          </a:xfrm>
          <a:prstGeom prst="ellipse">
            <a:avLst/>
          </a:prstGeom>
          <a:solidFill>
            <a:srgbClr val="B3452C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" y="4809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608" dirty="0"/>
          </a:p>
        </p:txBody>
      </p:sp>
      <p:sp>
        <p:nvSpPr>
          <p:cNvPr id="19" name="Text 17"/>
          <p:cNvSpPr/>
          <p:nvPr/>
        </p:nvSpPr>
        <p:spPr>
          <a:xfrm>
            <a:off x="1417320" y="475488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overfitting on small or noisy datasets without proper regularization.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1109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11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8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Diagnosis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9864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disease presence from patient vitals and lifestyle data, as in this example.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17136" y="191109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911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8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89864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scoring, fraud detection, and binary risk classification for loan approvals.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91109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911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8" dirty="0"/>
          </a:p>
        </p:txBody>
      </p:sp>
      <p:sp>
        <p:nvSpPr>
          <p:cNvPr id="17" name="Text 15"/>
          <p:cNvSpPr/>
          <p:nvPr/>
        </p:nvSpPr>
        <p:spPr>
          <a:xfrm>
            <a:off x="8321040" y="25146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Content Filtering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89864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vs. legitimate message classification.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15137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151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8" dirty="0"/>
          </a:p>
        </p:txBody>
      </p:sp>
      <p:sp>
        <p:nvSpPr>
          <p:cNvPr id="22" name="Text 20"/>
          <p:cNvSpPr/>
          <p:nvPr/>
        </p:nvSpPr>
        <p:spPr>
          <a:xfrm>
            <a:off x="822960" y="47548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13892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and multi-class classification of objects, defects, or medical scans.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17136" y="415137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17136" y="4151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8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513892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and purchase/no-purchase classification.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66176" y="415137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8266176" y="4151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88" dirty="0"/>
          </a:p>
        </p:txBody>
      </p:sp>
      <p:sp>
        <p:nvSpPr>
          <p:cNvPr id="32" name="Text 30"/>
          <p:cNvSpPr/>
          <p:nvPr/>
        </p:nvSpPr>
        <p:spPr>
          <a:xfrm>
            <a:off x="8321040" y="47548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513892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vs. negative sentiment classification of text and reviews.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core algorithm that enables a multilayer perceptron to learn: it runs a forward pass to generate predictions, calculates the error against actual labels, and propagates that error backward using the chain rule to update every weight via gradient descent.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convergence speed and stability, while </a:t>
            </a:r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3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the network's capacity to learn non-linear patterns and how well gradients flow during training.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35240" y="169164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0B1F2A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35240" y="169164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13293E"/>
          </a:solidFill>
          <a:ln w="12700">
            <a:solidFill>
              <a:srgbClr val="2A4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09560" y="23317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correctly tuned learning rates and suitable activation functions, backpropagation reliably trains accurate, reliable binary classifiers from raw data.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909560" y="3840480"/>
            <a:ext cx="3474720" cy="914"/>
          </a:xfrm>
          <a:prstGeom prst="line">
            <a:avLst/>
          </a:prstGeom>
          <a:noFill/>
          <a:ln w="12700">
            <a:solidFill>
              <a:srgbClr val="2A4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402336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9D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→ Error Calculation → Backward Propagation → Updated Weights → Repeat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2026-07-27T18:21:19Z</dcterms:created>
  <dcterms:modified xsi:type="dcterms:W3CDTF">2026-07-27T18:21:19Z</dcterms:modified>
</cp:coreProperties>
</file>